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Bakbak One"/>
      <p:regular r:id="rId23"/>
    </p:embeddedFont>
    <p:embeddedFont>
      <p:font typeface="Roboto"/>
      <p:regular r:id="rId24"/>
      <p:bold r:id="rId25"/>
      <p:italic r:id="rId26"/>
      <p:boldItalic r:id="rId27"/>
    </p:embeddedFont>
    <p:embeddedFont>
      <p:font typeface="Cabin"/>
      <p:regular r:id="rId28"/>
      <p:bold r:id="rId29"/>
      <p:italic r:id="rId30"/>
      <p:boldItalic r:id="rId31"/>
    </p:embeddedFont>
    <p:embeddedFont>
      <p:font typeface="Bebas Neue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37C7428-A89A-454F-9F9C-192647843696}">
  <a:tblStyle styleId="{C37C7428-A89A-454F-9F9C-1926478436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-regular.fntdata"/><Relationship Id="rId23" Type="http://schemas.openxmlformats.org/officeDocument/2006/relationships/font" Target="fonts/BakbakOn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Cabin-regular.fntdata"/><Relationship Id="rId27" Type="http://schemas.openxmlformats.org/officeDocument/2006/relationships/font" Target="fonts/Robo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Cabin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abin-boldItalic.fntdata"/><Relationship Id="rId30" Type="http://schemas.openxmlformats.org/officeDocument/2006/relationships/font" Target="fonts/Cabin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BebasNeue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4d151c968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4d151c968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4d151c968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4d151c968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d151c9682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d151c968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4d151c9682_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4d151c9682_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d151c9682_7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4d151c9682_7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d151c9682_7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4d151c9682_7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d151c9682_7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4d151c9682_7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4d151c9682_7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4d151c9682_7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d151c9682_7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d151c9682_7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4d151c9682_7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4d151c9682_7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d151c9682_7_5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4d151c9682_7_5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d151c9682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4d151c9682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High Fees Kill Profit → 30% commission eats your margins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Chargebacks Customer complaints lower your payout, Bad Deliveries Hurt Your Brand → You get blamed for poor third-party service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Manual Reconciliation Wastes Time → 10 hrs/month/store just to verify payments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 Customer Loyalty → DoorDash keeps the customer and their data, not you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4d151c9682_6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4d151c9682_6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Short-Term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Optimize Menu Profitability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Slightly reduce food portions and raise DoorDash prices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promotions/discounts to make higher prices feel justified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Focus on high-margin, delivery-friendly items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Reduce Reconciliation Time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Use integration tools like ItsaCheckmate or Otter to sync POS and DoorDash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Automate reports to track fees, chargebacks, and payouts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Explore Better Partnerships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Find new partnerships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Negotiate better commission rates or incentives</a:t>
            </a:r>
            <a:endParaRPr sz="120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highlight>
                <a:srgbClr val="322825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d151c9682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4d151c9682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4d151c9682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4d151c9682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968850" y="2211414"/>
            <a:ext cx="4434900" cy="15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rtl="0" algn="ctr">
              <a:spcBef>
                <a:spcPts val="100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968850" y="3734201"/>
            <a:ext cx="4434900" cy="40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 rotWithShape="1">
          <a:blip r:embed="rId2">
            <a:alphaModFix amt="4000"/>
          </a:blip>
          <a:srcRect b="6113" l="0" r="0" t="9204"/>
          <a:stretch/>
        </p:blipFill>
        <p:spPr>
          <a:xfrm flipH="1">
            <a:off x="0" y="-24924"/>
            <a:ext cx="9144003" cy="516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/>
          <p:nvPr>
            <p:ph type="title"/>
          </p:nvPr>
        </p:nvSpPr>
        <p:spPr>
          <a:xfrm>
            <a:off x="5506725" y="2346600"/>
            <a:ext cx="2685600" cy="12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6148875" y="1504800"/>
            <a:ext cx="1401300" cy="8418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 amt="30000"/>
          </a:blip>
          <a:srcRect b="6113" l="0" r="0" t="9204"/>
          <a:stretch/>
        </p:blipFill>
        <p:spPr>
          <a:xfrm>
            <a:off x="0" y="-24924"/>
            <a:ext cx="9144003" cy="5168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4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18" name="Google Shape;18;p4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4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228675"/>
            <a:ext cx="7704000" cy="3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5"/>
          <p:cNvPicPr preferRelativeResize="0"/>
          <p:nvPr/>
        </p:nvPicPr>
        <p:blipFill rotWithShape="1">
          <a:blip r:embed="rId2">
            <a:alphaModFix amt="30000"/>
          </a:blip>
          <a:srcRect b="6113" l="0" r="0" t="9204"/>
          <a:stretch/>
        </p:blipFill>
        <p:spPr>
          <a:xfrm flipH="1" rot="10800000">
            <a:off x="0" y="-24924"/>
            <a:ext cx="9144003" cy="5168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5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25" name="Google Shape;25;p5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5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697250" y="1576450"/>
            <a:ext cx="5749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697250" y="3014550"/>
            <a:ext cx="57495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1697250" y="2038075"/>
            <a:ext cx="5749500" cy="7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1697250" y="3476175"/>
            <a:ext cx="5749500" cy="72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6"/>
          <p:cNvPicPr preferRelativeResize="0"/>
          <p:nvPr/>
        </p:nvPicPr>
        <p:blipFill rotWithShape="1">
          <a:blip r:embed="rId2">
            <a:alphaModFix amt="30000"/>
          </a:blip>
          <a:srcRect b="10264" l="0" r="0" t="546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" name="Google Shape;34;p6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35" name="Google Shape;35;p6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6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" name="Google Shape;3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"/>
          <p:cNvPicPr preferRelativeResize="0"/>
          <p:nvPr/>
        </p:nvPicPr>
        <p:blipFill rotWithShape="1">
          <a:blip r:embed="rId2">
            <a:alphaModFix amt="30000"/>
          </a:blip>
          <a:srcRect b="6855" l="0" r="0" t="9033"/>
          <a:stretch/>
        </p:blipFill>
        <p:spPr>
          <a:xfrm>
            <a:off x="-17400" y="0"/>
            <a:ext cx="916140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" name="Google Shape;40;p7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41" name="Google Shape;41;p7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7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" name="Google Shape;43;p7"/>
          <p:cNvSpPr txBox="1"/>
          <p:nvPr>
            <p:ph type="title"/>
          </p:nvPr>
        </p:nvSpPr>
        <p:spPr>
          <a:xfrm>
            <a:off x="838925" y="1327075"/>
            <a:ext cx="4498200" cy="69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8925" y="2026625"/>
            <a:ext cx="4498200" cy="17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 amt="30000"/>
          </a:blip>
          <a:srcRect b="10264" l="0" r="0" t="5460"/>
          <a:stretch/>
        </p:blipFill>
        <p:spPr>
          <a:xfrm flipH="1" rot="10800000"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" name="Google Shape;47;p8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48" name="Google Shape;48;p8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8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" name="Google Shape;50;p8"/>
          <p:cNvSpPr txBox="1"/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 rotWithShape="1">
          <a:blip r:embed="rId2">
            <a:alphaModFix amt="30000"/>
          </a:blip>
          <a:srcRect b="6855" l="0" r="0" t="9033"/>
          <a:stretch/>
        </p:blipFill>
        <p:spPr>
          <a:xfrm>
            <a:off x="-17400" y="0"/>
            <a:ext cx="916140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" name="Google Shape;53;p9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54" name="Google Shape;54;p9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9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6" name="Google Shape;56;p9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7" name="Google Shape;57;p9"/>
          <p:cNvSpPr txBox="1"/>
          <p:nvPr>
            <p:ph idx="1" type="subTitle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0"/>
          <p:cNvPicPr preferRelativeResize="0"/>
          <p:nvPr/>
        </p:nvPicPr>
        <p:blipFill rotWithShape="1">
          <a:blip r:embed="rId2">
            <a:alphaModFix amt="30000"/>
          </a:blip>
          <a:srcRect b="29174" l="1013" r="17903" t="250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oogle Shape;60;p10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61" name="Google Shape;61;p10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0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0"/>
          <p:cNvSpPr txBox="1"/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1"/>
          <p:cNvPicPr preferRelativeResize="0"/>
          <p:nvPr/>
        </p:nvPicPr>
        <p:blipFill rotWithShape="1">
          <a:blip r:embed="rId2">
            <a:alphaModFix amt="30000"/>
          </a:blip>
          <a:srcRect b="6855" l="0" r="0" t="9033"/>
          <a:stretch/>
        </p:blipFill>
        <p:spPr>
          <a:xfrm>
            <a:off x="-17400" y="0"/>
            <a:ext cx="916140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" name="Google Shape;66;p11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67" name="Google Shape;67;p11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11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284000" y="2782425"/>
            <a:ext cx="6576000" cy="11892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284000" y="4215200"/>
            <a:ext cx="65760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3"/>
          <p:cNvPicPr preferRelativeResize="0"/>
          <p:nvPr/>
        </p:nvPicPr>
        <p:blipFill rotWithShape="1">
          <a:blip r:embed="rId2">
            <a:alphaModFix amt="30000"/>
          </a:blip>
          <a:srcRect b="6855" l="0" r="0" t="9033"/>
          <a:stretch/>
        </p:blipFill>
        <p:spPr>
          <a:xfrm flipH="1" rot="10800000">
            <a:off x="-17400" y="0"/>
            <a:ext cx="916140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4" name="Google Shape;74;p13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75" name="Google Shape;75;p13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3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3"/>
          <p:cNvSpPr txBox="1"/>
          <p:nvPr>
            <p:ph hasCustomPrompt="1" type="title"/>
          </p:nvPr>
        </p:nvSpPr>
        <p:spPr>
          <a:xfrm>
            <a:off x="3518872" y="1492500"/>
            <a:ext cx="809100" cy="593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3"/>
          <p:cNvSpPr txBox="1"/>
          <p:nvPr>
            <p:ph hasCustomPrompt="1" idx="2" type="title"/>
          </p:nvPr>
        </p:nvSpPr>
        <p:spPr>
          <a:xfrm>
            <a:off x="4816022" y="1492500"/>
            <a:ext cx="809100" cy="593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3"/>
          <p:cNvSpPr txBox="1"/>
          <p:nvPr>
            <p:ph hasCustomPrompt="1" idx="3" type="title"/>
          </p:nvPr>
        </p:nvSpPr>
        <p:spPr>
          <a:xfrm>
            <a:off x="3518872" y="3281900"/>
            <a:ext cx="809100" cy="593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/>
          <p:nvPr>
            <p:ph hasCustomPrompt="1" idx="4" type="title"/>
          </p:nvPr>
        </p:nvSpPr>
        <p:spPr>
          <a:xfrm>
            <a:off x="4816022" y="3281900"/>
            <a:ext cx="809100" cy="593400"/>
          </a:xfrm>
          <a:prstGeom prst="rect">
            <a:avLst/>
          </a:prstGeom>
          <a:solidFill>
            <a:schemeClr val="lt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Bakbak One"/>
              <a:buNone/>
              <a:defRPr sz="3000">
                <a:latin typeface="Bakbak One"/>
                <a:ea typeface="Bakbak One"/>
                <a:cs typeface="Bakbak One"/>
                <a:sym typeface="Bakbak One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3"/>
          <p:cNvSpPr txBox="1"/>
          <p:nvPr>
            <p:ph idx="5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subTitle"/>
          </p:nvPr>
        </p:nvSpPr>
        <p:spPr>
          <a:xfrm>
            <a:off x="1092172" y="2090450"/>
            <a:ext cx="3235800" cy="52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6" type="subTitle"/>
          </p:nvPr>
        </p:nvSpPr>
        <p:spPr>
          <a:xfrm>
            <a:off x="4816025" y="2090450"/>
            <a:ext cx="3235800" cy="52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7" type="subTitle"/>
          </p:nvPr>
        </p:nvSpPr>
        <p:spPr>
          <a:xfrm>
            <a:off x="1092172" y="3896625"/>
            <a:ext cx="3235800" cy="52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8" type="subTitle"/>
          </p:nvPr>
        </p:nvSpPr>
        <p:spPr>
          <a:xfrm>
            <a:off x="4816028" y="3896625"/>
            <a:ext cx="3235800" cy="526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4"/>
          <p:cNvPicPr preferRelativeResize="0"/>
          <p:nvPr/>
        </p:nvPicPr>
        <p:blipFill rotWithShape="1">
          <a:blip r:embed="rId2">
            <a:alphaModFix amt="30000"/>
          </a:blip>
          <a:srcRect b="10264" l="0" r="0" t="546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8" name="Google Shape;88;p14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89" name="Google Shape;89;p14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5"/>
          <p:cNvPicPr preferRelativeResize="0"/>
          <p:nvPr/>
        </p:nvPicPr>
        <p:blipFill rotWithShape="1">
          <a:blip r:embed="rId2">
            <a:alphaModFix amt="30000"/>
          </a:blip>
          <a:srcRect b="6855" l="0" r="0" t="9033"/>
          <a:stretch/>
        </p:blipFill>
        <p:spPr>
          <a:xfrm rot="10800000">
            <a:off x="-17400" y="0"/>
            <a:ext cx="916140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" name="Google Shape;94;p15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95" name="Google Shape;95;p15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6"/>
          <p:cNvPicPr preferRelativeResize="0"/>
          <p:nvPr/>
        </p:nvPicPr>
        <p:blipFill rotWithShape="1">
          <a:blip r:embed="rId2">
            <a:alphaModFix amt="30000"/>
          </a:blip>
          <a:srcRect b="10264" l="0" r="0" t="5460"/>
          <a:stretch/>
        </p:blipFill>
        <p:spPr>
          <a:xfrm rot="10800000">
            <a:off x="-8526" y="11698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16"/>
          <p:cNvGrpSpPr/>
          <p:nvPr/>
        </p:nvGrpSpPr>
        <p:grpSpPr>
          <a:xfrm rot="10800000">
            <a:off x="342" y="0"/>
            <a:ext cx="9143660" cy="5155200"/>
            <a:chOff x="404150" y="0"/>
            <a:chExt cx="10133725" cy="5155200"/>
          </a:xfrm>
        </p:grpSpPr>
        <p:sp>
          <p:nvSpPr>
            <p:cNvPr id="101" name="Google Shape;101;p16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6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6"/>
          <p:cNvSpPr txBox="1"/>
          <p:nvPr>
            <p:ph idx="1" type="subTitle"/>
          </p:nvPr>
        </p:nvSpPr>
        <p:spPr>
          <a:xfrm>
            <a:off x="720000" y="1212525"/>
            <a:ext cx="7708800" cy="21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7"/>
          <p:cNvPicPr preferRelativeResize="0"/>
          <p:nvPr/>
        </p:nvPicPr>
        <p:blipFill rotWithShape="1">
          <a:blip r:embed="rId2">
            <a:alphaModFix amt="30000"/>
          </a:blip>
          <a:srcRect b="4963" l="0" r="0" t="10769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7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108" name="Google Shape;108;p17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717600" y="3971625"/>
            <a:ext cx="7708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8"/>
          <p:cNvPicPr preferRelativeResize="0"/>
          <p:nvPr/>
        </p:nvPicPr>
        <p:blipFill rotWithShape="1">
          <a:blip r:embed="rId2">
            <a:alphaModFix amt="30000"/>
          </a:blip>
          <a:srcRect b="4963" l="0" r="0" t="10769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4" name="Google Shape;114;p18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115" name="Google Shape;115;p18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8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" name="Google Shape;117;p18"/>
          <p:cNvSpPr txBox="1"/>
          <p:nvPr>
            <p:ph idx="1" type="subTitle"/>
          </p:nvPr>
        </p:nvSpPr>
        <p:spPr>
          <a:xfrm>
            <a:off x="720000" y="1212525"/>
            <a:ext cx="7708800" cy="26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9"/>
          <p:cNvPicPr preferRelativeResize="0"/>
          <p:nvPr/>
        </p:nvPicPr>
        <p:blipFill rotWithShape="1">
          <a:blip r:embed="rId2">
            <a:alphaModFix amt="30000"/>
          </a:blip>
          <a:srcRect b="4963" l="0" r="0" t="10769"/>
          <a:stretch/>
        </p:blipFill>
        <p:spPr>
          <a:xfrm>
            <a:off x="-8526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19"/>
          <p:cNvGrpSpPr/>
          <p:nvPr/>
        </p:nvGrpSpPr>
        <p:grpSpPr>
          <a:xfrm flipH="1">
            <a:off x="342" y="0"/>
            <a:ext cx="9143660" cy="5155200"/>
            <a:chOff x="404150" y="0"/>
            <a:chExt cx="10133725" cy="5155200"/>
          </a:xfrm>
        </p:grpSpPr>
        <p:sp>
          <p:nvSpPr>
            <p:cNvPr id="122" name="Google Shape;122;p19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9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4" name="Google Shape;124;p19"/>
          <p:cNvSpPr txBox="1"/>
          <p:nvPr>
            <p:ph idx="1" type="subTitle"/>
          </p:nvPr>
        </p:nvSpPr>
        <p:spPr>
          <a:xfrm>
            <a:off x="2152784" y="1095500"/>
            <a:ext cx="4838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idx="2" type="subTitle"/>
          </p:nvPr>
        </p:nvSpPr>
        <p:spPr>
          <a:xfrm>
            <a:off x="2152784" y="1504100"/>
            <a:ext cx="4838400" cy="7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3" type="subTitle"/>
          </p:nvPr>
        </p:nvSpPr>
        <p:spPr>
          <a:xfrm>
            <a:off x="2152807" y="2700500"/>
            <a:ext cx="4838400" cy="7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2152796" y="3896900"/>
            <a:ext cx="4838400" cy="7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5" type="subTitle"/>
          </p:nvPr>
        </p:nvSpPr>
        <p:spPr>
          <a:xfrm>
            <a:off x="2152803" y="2291900"/>
            <a:ext cx="4838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6" type="subTitle"/>
          </p:nvPr>
        </p:nvSpPr>
        <p:spPr>
          <a:xfrm>
            <a:off x="2152816" y="3488300"/>
            <a:ext cx="48384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 rotWithShape="1">
          <a:blip r:embed="rId2">
            <a:alphaModFix amt="30000"/>
          </a:blip>
          <a:srcRect b="10264" l="0" r="0" t="5460"/>
          <a:stretch/>
        </p:blipFill>
        <p:spPr>
          <a:xfrm rot="10800000">
            <a:off x="-8526" y="11698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" name="Google Shape;133;p20"/>
          <p:cNvGrpSpPr/>
          <p:nvPr/>
        </p:nvGrpSpPr>
        <p:grpSpPr>
          <a:xfrm rot="10800000">
            <a:off x="342" y="0"/>
            <a:ext cx="9143660" cy="5155200"/>
            <a:chOff x="404150" y="0"/>
            <a:chExt cx="10133725" cy="5155200"/>
          </a:xfrm>
        </p:grpSpPr>
        <p:sp>
          <p:nvSpPr>
            <p:cNvPr id="134" name="Google Shape;134;p20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idx="1" type="subTitle"/>
          </p:nvPr>
        </p:nvSpPr>
        <p:spPr>
          <a:xfrm>
            <a:off x="1229023" y="1583475"/>
            <a:ext cx="31947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2" type="subTitle"/>
          </p:nvPr>
        </p:nvSpPr>
        <p:spPr>
          <a:xfrm>
            <a:off x="1229023" y="1992075"/>
            <a:ext cx="3194700" cy="90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20"/>
          <p:cNvSpPr txBox="1"/>
          <p:nvPr>
            <p:ph idx="3" type="subTitle"/>
          </p:nvPr>
        </p:nvSpPr>
        <p:spPr>
          <a:xfrm>
            <a:off x="4720277" y="1992075"/>
            <a:ext cx="3194700" cy="90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9" name="Google Shape;139;p20"/>
          <p:cNvSpPr txBox="1"/>
          <p:nvPr>
            <p:ph idx="4" type="subTitle"/>
          </p:nvPr>
        </p:nvSpPr>
        <p:spPr>
          <a:xfrm>
            <a:off x="1229023" y="3458200"/>
            <a:ext cx="3194700" cy="90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0" name="Google Shape;140;p20"/>
          <p:cNvSpPr txBox="1"/>
          <p:nvPr>
            <p:ph idx="5" type="subTitle"/>
          </p:nvPr>
        </p:nvSpPr>
        <p:spPr>
          <a:xfrm>
            <a:off x="4720277" y="3458200"/>
            <a:ext cx="3194700" cy="905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2" name="Google Shape;142;p20"/>
          <p:cNvSpPr txBox="1"/>
          <p:nvPr>
            <p:ph idx="6" type="subTitle"/>
          </p:nvPr>
        </p:nvSpPr>
        <p:spPr>
          <a:xfrm>
            <a:off x="1229023" y="3049600"/>
            <a:ext cx="31947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143" name="Google Shape;143;p20"/>
          <p:cNvSpPr txBox="1"/>
          <p:nvPr>
            <p:ph idx="7" type="subTitle"/>
          </p:nvPr>
        </p:nvSpPr>
        <p:spPr>
          <a:xfrm>
            <a:off x="4720276" y="1583475"/>
            <a:ext cx="31947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8" type="subTitle"/>
          </p:nvPr>
        </p:nvSpPr>
        <p:spPr>
          <a:xfrm>
            <a:off x="4720276" y="3049600"/>
            <a:ext cx="31947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1"/>
          <p:cNvPicPr preferRelativeResize="0"/>
          <p:nvPr/>
        </p:nvPicPr>
        <p:blipFill rotWithShape="1">
          <a:blip r:embed="rId2">
            <a:alphaModFix amt="30000"/>
          </a:blip>
          <a:srcRect b="7862" l="0" r="0" t="7862"/>
          <a:stretch/>
        </p:blipFill>
        <p:spPr>
          <a:xfrm flipH="1" rot="10800000"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" name="Google Shape;147;p21"/>
          <p:cNvGrpSpPr/>
          <p:nvPr/>
        </p:nvGrpSpPr>
        <p:grpSpPr>
          <a:xfrm flipH="1" rot="10800000">
            <a:off x="174" y="0"/>
            <a:ext cx="9143660" cy="5155200"/>
            <a:chOff x="404150" y="0"/>
            <a:chExt cx="10133725" cy="5155200"/>
          </a:xfrm>
        </p:grpSpPr>
        <p:sp>
          <p:nvSpPr>
            <p:cNvPr id="148" name="Google Shape;148;p21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1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1"/>
          <p:cNvSpPr txBox="1"/>
          <p:nvPr>
            <p:ph idx="1" type="subTitle"/>
          </p:nvPr>
        </p:nvSpPr>
        <p:spPr>
          <a:xfrm>
            <a:off x="827150" y="1891676"/>
            <a:ext cx="2440800" cy="9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21"/>
          <p:cNvSpPr txBox="1"/>
          <p:nvPr>
            <p:ph idx="2" type="subTitle"/>
          </p:nvPr>
        </p:nvSpPr>
        <p:spPr>
          <a:xfrm>
            <a:off x="3351597" y="1891676"/>
            <a:ext cx="2440800" cy="9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idx="3" type="subTitle"/>
          </p:nvPr>
        </p:nvSpPr>
        <p:spPr>
          <a:xfrm>
            <a:off x="5876048" y="1891676"/>
            <a:ext cx="2440800" cy="9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21"/>
          <p:cNvSpPr txBox="1"/>
          <p:nvPr>
            <p:ph idx="4" type="subTitle"/>
          </p:nvPr>
        </p:nvSpPr>
        <p:spPr>
          <a:xfrm>
            <a:off x="827150" y="3403425"/>
            <a:ext cx="2440800" cy="9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1"/>
          <p:cNvSpPr txBox="1"/>
          <p:nvPr>
            <p:ph idx="5" type="subTitle"/>
          </p:nvPr>
        </p:nvSpPr>
        <p:spPr>
          <a:xfrm>
            <a:off x="3351598" y="3403425"/>
            <a:ext cx="2440800" cy="9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21"/>
          <p:cNvSpPr txBox="1"/>
          <p:nvPr>
            <p:ph idx="6" type="subTitle"/>
          </p:nvPr>
        </p:nvSpPr>
        <p:spPr>
          <a:xfrm>
            <a:off x="5876050" y="3403425"/>
            <a:ext cx="2440800" cy="90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7" name="Google Shape;157;p21"/>
          <p:cNvSpPr txBox="1"/>
          <p:nvPr>
            <p:ph idx="7" type="subTitle"/>
          </p:nvPr>
        </p:nvSpPr>
        <p:spPr>
          <a:xfrm>
            <a:off x="827154" y="1485525"/>
            <a:ext cx="244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158" name="Google Shape;158;p21"/>
          <p:cNvSpPr txBox="1"/>
          <p:nvPr>
            <p:ph idx="8" type="subTitle"/>
          </p:nvPr>
        </p:nvSpPr>
        <p:spPr>
          <a:xfrm>
            <a:off x="3351598" y="1485525"/>
            <a:ext cx="244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159" name="Google Shape;159;p21"/>
          <p:cNvSpPr txBox="1"/>
          <p:nvPr>
            <p:ph idx="9" type="subTitle"/>
          </p:nvPr>
        </p:nvSpPr>
        <p:spPr>
          <a:xfrm>
            <a:off x="5876046" y="1485525"/>
            <a:ext cx="244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160" name="Google Shape;160;p21"/>
          <p:cNvSpPr txBox="1"/>
          <p:nvPr>
            <p:ph idx="13" type="subTitle"/>
          </p:nvPr>
        </p:nvSpPr>
        <p:spPr>
          <a:xfrm>
            <a:off x="827154" y="2992726"/>
            <a:ext cx="244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161" name="Google Shape;161;p21"/>
          <p:cNvSpPr txBox="1"/>
          <p:nvPr>
            <p:ph idx="14" type="subTitle"/>
          </p:nvPr>
        </p:nvSpPr>
        <p:spPr>
          <a:xfrm>
            <a:off x="3351598" y="2992726"/>
            <a:ext cx="244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  <p:sp>
        <p:nvSpPr>
          <p:cNvPr id="162" name="Google Shape;162;p21"/>
          <p:cNvSpPr txBox="1"/>
          <p:nvPr>
            <p:ph idx="15" type="subTitle"/>
          </p:nvPr>
        </p:nvSpPr>
        <p:spPr>
          <a:xfrm>
            <a:off x="5876046" y="2992726"/>
            <a:ext cx="2440800" cy="4848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Bakbak One"/>
              <a:buNone/>
              <a:defRPr sz="2400">
                <a:solidFill>
                  <a:schemeClr val="accent1"/>
                </a:solidFill>
                <a:latin typeface="Bakbak One"/>
                <a:ea typeface="Bakbak One"/>
                <a:cs typeface="Bakbak One"/>
                <a:sym typeface="Bakbak On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>
            <p:ph type="ctrTitle"/>
          </p:nvPr>
        </p:nvSpPr>
        <p:spPr>
          <a:xfrm>
            <a:off x="4330418" y="773000"/>
            <a:ext cx="4322100" cy="9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5" name="Google Shape;165;p22"/>
          <p:cNvSpPr txBox="1"/>
          <p:nvPr>
            <p:ph idx="1" type="subTitle"/>
          </p:nvPr>
        </p:nvSpPr>
        <p:spPr>
          <a:xfrm>
            <a:off x="4325500" y="1770800"/>
            <a:ext cx="4332000" cy="1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23"/>
          <p:cNvPicPr preferRelativeResize="0"/>
          <p:nvPr/>
        </p:nvPicPr>
        <p:blipFill rotWithShape="1">
          <a:blip r:embed="rId2">
            <a:alphaModFix amt="30000"/>
          </a:blip>
          <a:srcRect b="12782" l="5841" r="14023" t="19690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/>
          <p:nvPr/>
        </p:nvSpPr>
        <p:spPr>
          <a:xfrm flipH="1" rot="-5400000">
            <a:off x="490045" y="-490050"/>
            <a:ext cx="5155200" cy="6135300"/>
          </a:xfrm>
          <a:prstGeom prst="rect">
            <a:avLst/>
          </a:prstGeom>
          <a:gradFill>
            <a:gsLst>
              <a:gs pos="0">
                <a:schemeClr val="lt1"/>
              </a:gs>
              <a:gs pos="66000">
                <a:schemeClr val="lt1"/>
              </a:gs>
              <a:gs pos="100000">
                <a:srgbClr val="322825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4"/>
          <p:cNvPicPr preferRelativeResize="0"/>
          <p:nvPr/>
        </p:nvPicPr>
        <p:blipFill rotWithShape="1">
          <a:blip r:embed="rId2">
            <a:alphaModFix amt="90000"/>
          </a:blip>
          <a:srcRect b="7862" l="0" r="0" t="7862"/>
          <a:stretch/>
        </p:blipFill>
        <p:spPr>
          <a:xfrm>
            <a:off x="0" y="0"/>
            <a:ext cx="9144003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24"/>
          <p:cNvGrpSpPr/>
          <p:nvPr/>
        </p:nvGrpSpPr>
        <p:grpSpPr>
          <a:xfrm>
            <a:off x="-8526" y="0"/>
            <a:ext cx="9143660" cy="5155200"/>
            <a:chOff x="404150" y="0"/>
            <a:chExt cx="10133725" cy="5155200"/>
          </a:xfrm>
        </p:grpSpPr>
        <p:sp>
          <p:nvSpPr>
            <p:cNvPr id="172" name="Google Shape;172;p24"/>
            <p:cNvSpPr/>
            <p:nvPr/>
          </p:nvSpPr>
          <p:spPr>
            <a:xfrm rot="5400000">
              <a:off x="1226300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4"/>
            <p:cNvSpPr/>
            <p:nvPr/>
          </p:nvSpPr>
          <p:spPr>
            <a:xfrm flipH="1" rot="-5400000">
              <a:off x="4560525" y="-822150"/>
              <a:ext cx="5155200" cy="67995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66000">
                  <a:schemeClr val="lt1"/>
                </a:gs>
                <a:gs pos="100000">
                  <a:srgbClr val="322825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7" name="Google Shape;177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8" name="Google Shape;178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79" name="Google Shape;17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akbak One"/>
              <a:buNone/>
              <a:defRPr b="1" sz="35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indent="-3048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indent="-3048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indent="-3048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indent="-3048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indent="-3048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indent="-3048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indent="-3048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indent="-3048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ctrTitle"/>
          </p:nvPr>
        </p:nvSpPr>
        <p:spPr>
          <a:xfrm>
            <a:off x="3968850" y="2211414"/>
            <a:ext cx="4434900" cy="15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The Bar &amp; Grill Case Study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BHLC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311700" y="2834125"/>
            <a:ext cx="8520600" cy="159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Thuan Bui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Guoming Lin</a:t>
            </a:r>
            <a:b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Chunyu Huang</a:t>
            </a:r>
            <a:endParaRPr sz="2000">
              <a:solidFill>
                <a:schemeClr val="accent2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Kerry Che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7"/>
          <p:cNvSpPr txBox="1"/>
          <p:nvPr>
            <p:ph type="title"/>
          </p:nvPr>
        </p:nvSpPr>
        <p:spPr>
          <a:xfrm>
            <a:off x="265525" y="1830600"/>
            <a:ext cx="4045200" cy="148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Analysis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Plan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>
            <p:ph type="ctrTitle"/>
          </p:nvPr>
        </p:nvSpPr>
        <p:spPr>
          <a:xfrm>
            <a:off x="311700" y="237600"/>
            <a:ext cx="8520600" cy="110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8"/>
          <p:cNvSpPr txBox="1"/>
          <p:nvPr>
            <p:ph idx="1" type="subTitle"/>
          </p:nvPr>
        </p:nvSpPr>
        <p:spPr>
          <a:xfrm>
            <a:off x="279000" y="1127625"/>
            <a:ext cx="8586000" cy="33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Background: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Bar &amp; Grill is a casual dining restaurant brand founded by a classically trained chef in Henderson, Las Vegas. The concept began with a single location and a simple goal: to build a business the owner could proudly call his own.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Thanks to quality food and a viral boost from a popular YouTuber, the restaurant quickly gained popularity, seeing 40% annual growth. This success led to the opening of five total locations.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9"/>
          <p:cNvSpPr txBox="1"/>
          <p:nvPr>
            <p:ph idx="1" type="subTitle"/>
          </p:nvPr>
        </p:nvSpPr>
        <p:spPr>
          <a:xfrm>
            <a:off x="341400" y="1114725"/>
            <a:ext cx="8461200" cy="38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Labor Cost Inefficiencies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Delivery Platforms Profit Loss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Inefficient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ccounting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ystems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Complicated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anagement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Fragmented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ata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tores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Delayed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naccurate </a:t>
            </a: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eporting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9"/>
          <p:cNvSpPr txBox="1"/>
          <p:nvPr>
            <p:ph type="ctrTitle"/>
          </p:nvPr>
        </p:nvSpPr>
        <p:spPr>
          <a:xfrm>
            <a:off x="311700" y="237600"/>
            <a:ext cx="8520600" cy="110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Business Challenges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0"/>
          <p:cNvSpPr txBox="1"/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Research Methods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30"/>
          <p:cNvSpPr txBox="1"/>
          <p:nvPr>
            <p:ph idx="4294967295" type="body"/>
          </p:nvPr>
        </p:nvSpPr>
        <p:spPr>
          <a:xfrm>
            <a:off x="720000" y="1228675"/>
            <a:ext cx="7704000" cy="32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Programming Tools: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Microsoft Excel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Python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1"/>
          <p:cNvSpPr txBox="1"/>
          <p:nvPr>
            <p:ph type="title"/>
          </p:nvPr>
        </p:nvSpPr>
        <p:spPr>
          <a:xfrm>
            <a:off x="720000" y="3517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Labor Cost Inefficiencies 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31"/>
          <p:cNvSpPr txBox="1"/>
          <p:nvPr>
            <p:ph idx="1" type="subTitle"/>
          </p:nvPr>
        </p:nvSpPr>
        <p:spPr>
          <a:xfrm>
            <a:off x="472975" y="3761200"/>
            <a:ext cx="8383200" cy="7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Mount Pleasant consistently outperforms on all labor KPIs.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Forest Acres underperforms in productivity, efficiency, and cost.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216" name="Google Shape;21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600" y="1204924"/>
            <a:ext cx="8428802" cy="2477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720000" y="3488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Labor Cost Inefficiencies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2" name="Google Shape;22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772" y="1018600"/>
            <a:ext cx="5808749" cy="349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2"/>
          <p:cNvSpPr txBox="1"/>
          <p:nvPr/>
        </p:nvSpPr>
        <p:spPr>
          <a:xfrm>
            <a:off x="0" y="1204300"/>
            <a:ext cx="30117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Mount Pleasant will be our target benchmark.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Labor Hours per $1,000 Sales = 7.29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>
            <p:ph type="title"/>
          </p:nvPr>
        </p:nvSpPr>
        <p:spPr>
          <a:xfrm>
            <a:off x="719988" y="3488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Labor Cost Inefficiencies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29" name="Google Shape;229;p33"/>
          <p:cNvGraphicFramePr/>
          <p:nvPr/>
        </p:nvGraphicFramePr>
        <p:xfrm>
          <a:off x="195850" y="86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{C37C7428-A89A-454F-9F9C-192647843696}</a:tableStyleId>
              </a:tblPr>
              <a:tblGrid>
                <a:gridCol w="2499600"/>
                <a:gridCol w="1004675"/>
                <a:gridCol w="1272425"/>
                <a:gridCol w="1309650"/>
                <a:gridCol w="1207200"/>
                <a:gridCol w="1458725"/>
              </a:tblGrid>
              <a:tr h="39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Category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Arboretum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 Acres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Mount Pleasant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Summerville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Wilmington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 per Labor Hour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118.33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108.14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137.18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127.86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124.90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 Cost % of Sales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9.18%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8.80%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6.89%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7.22%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8.54%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 Hours per $1,000 Sales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9.25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7.29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7.82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8.01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30" name="Google Shape;230;p33"/>
          <p:cNvGraphicFramePr/>
          <p:nvPr/>
        </p:nvGraphicFramePr>
        <p:xfrm>
          <a:off x="195875" y="2719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{C37C7428-A89A-454F-9F9C-192647843696}</a:tableStyleId>
              </a:tblPr>
              <a:tblGrid>
                <a:gridCol w="1948400"/>
                <a:gridCol w="1948400"/>
                <a:gridCol w="1948400"/>
                <a:gridCol w="1948400"/>
              </a:tblGrid>
              <a:tr h="29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 per Labor Hour ↑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 Hours per $1k 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Labor Cost % ↓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Arboretum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118.33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8.45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9.18%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 Acres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108.14 (lowest)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9.25 (highest)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8.80%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Mount Pleasant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137.18 (highest)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7.29 (lowest)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6.89% (lowest)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Summerville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127.86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7.82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7.22%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Wilmington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124.90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8.01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8.54%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4"/>
          <p:cNvSpPr txBox="1"/>
          <p:nvPr>
            <p:ph type="title"/>
          </p:nvPr>
        </p:nvSpPr>
        <p:spPr>
          <a:xfrm>
            <a:off x="720000" y="3488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Labor Cost Inefficiencies 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6" name="Google Shape;23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625" y="1072625"/>
            <a:ext cx="7272750" cy="3799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idx="1" type="subTitle"/>
          </p:nvPr>
        </p:nvSpPr>
        <p:spPr>
          <a:xfrm>
            <a:off x="580500" y="977300"/>
            <a:ext cx="6862800" cy="3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kbak One"/>
              <a:ea typeface="Bakbak One"/>
              <a:cs typeface="Bakbak One"/>
              <a:sym typeface="Bakbak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kbak One"/>
              <a:ea typeface="Bakbak One"/>
              <a:cs typeface="Bakbak One"/>
              <a:sym typeface="Bakbak On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kbak One"/>
              <a:ea typeface="Bakbak One"/>
              <a:cs typeface="Bakbak One"/>
              <a:sym typeface="Bakbak One"/>
            </a:endParaRPr>
          </a:p>
        </p:txBody>
      </p:sp>
      <p:sp>
        <p:nvSpPr>
          <p:cNvPr id="242" name="Google Shape;242;p35"/>
          <p:cNvSpPr txBox="1"/>
          <p:nvPr>
            <p:ph type="title"/>
          </p:nvPr>
        </p:nvSpPr>
        <p:spPr>
          <a:xfrm>
            <a:off x="722400" y="3488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Labor Cost Inefficiencies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43" name="Google Shape;243;p35"/>
          <p:cNvGraphicFramePr/>
          <p:nvPr/>
        </p:nvGraphicFramePr>
        <p:xfrm>
          <a:off x="566550" y="1324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{C37C7428-A89A-454F-9F9C-192647843696}</a:tableStyleId>
              </a:tblPr>
              <a:tblGrid>
                <a:gridCol w="1335150"/>
                <a:gridCol w="1335150"/>
                <a:gridCol w="1335150"/>
                <a:gridCol w="1335150"/>
                <a:gridCol w="1335150"/>
                <a:gridCol w="1335150"/>
              </a:tblGrid>
              <a:tr h="68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Location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Actual Labor Hours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Target Labor Hours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Hours Saved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Estimated Cost Savings ($)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5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Arboretum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4012.21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3461.42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550.79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8261.84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5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Forest Acres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6352.59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5006.53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1346.06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20190.94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5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Summerville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7650.94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7132.39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518.54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7778.13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45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Wilmington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3190.40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2903.63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286.78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4301.67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6"/>
          <p:cNvSpPr txBox="1"/>
          <p:nvPr>
            <p:ph idx="4294967295" type="subTitle"/>
          </p:nvPr>
        </p:nvSpPr>
        <p:spPr>
          <a:xfrm>
            <a:off x="78825" y="1281300"/>
            <a:ext cx="4953900" cy="258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Times New Roman"/>
                <a:ea typeface="Times New Roman"/>
                <a:cs typeface="Times New Roman"/>
                <a:sym typeface="Times New Roman"/>
              </a:rPr>
              <a:t>Location  Short-Term Savings ($)  Long-Term Savings ($)</a:t>
            </a:r>
            <a:endParaRPr b="1"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Arboretum                 8261.83               16523.67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Forest Acres              20190.95              40381.90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Summerville              7778.13               15556.26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latin typeface="Times New Roman"/>
                <a:ea typeface="Times New Roman"/>
                <a:cs typeface="Times New Roman"/>
                <a:sym typeface="Times New Roman"/>
              </a:rPr>
              <a:t>Wilmington               4301.67                8603.34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36"/>
          <p:cNvSpPr txBox="1"/>
          <p:nvPr>
            <p:ph type="ctrTitle"/>
          </p:nvPr>
        </p:nvSpPr>
        <p:spPr>
          <a:xfrm>
            <a:off x="675649" y="58600"/>
            <a:ext cx="7398600" cy="99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Implementation Plan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0" name="Google Shape;25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3000" y="1689425"/>
            <a:ext cx="4740899" cy="33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7"/>
          <p:cNvSpPr txBox="1"/>
          <p:nvPr>
            <p:ph type="title"/>
          </p:nvPr>
        </p:nvSpPr>
        <p:spPr>
          <a:xfrm>
            <a:off x="720000" y="37745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Implementation Plan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"/>
          <p:cNvSpPr txBox="1"/>
          <p:nvPr>
            <p:ph idx="1" type="body"/>
          </p:nvPr>
        </p:nvSpPr>
        <p:spPr>
          <a:xfrm>
            <a:off x="720000" y="1116075"/>
            <a:ext cx="7704000" cy="32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Short-Term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Fewer idle hours = sharper scheduling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Staff is focused more during high-impact sales hours.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000">
                <a:latin typeface="Times New Roman"/>
                <a:ea typeface="Times New Roman"/>
                <a:cs typeface="Times New Roman"/>
                <a:sym typeface="Times New Roman"/>
              </a:rPr>
              <a:t>Long-Term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Cross-training improves flexibility with fewer people.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Use attrition or reduced hours (not firing) to manage reductions smoothly.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Managers start using metrics to schedule smarter.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Culture shifts toward “work smarter, not longer.”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8"/>
          <p:cNvSpPr txBox="1"/>
          <p:nvPr>
            <p:ph type="ctrTitle"/>
          </p:nvPr>
        </p:nvSpPr>
        <p:spPr>
          <a:xfrm>
            <a:off x="357775" y="0"/>
            <a:ext cx="7811700" cy="124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Delivery Platforms Profit Loss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0" y="1543125"/>
            <a:ext cx="3950400" cy="28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High 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commission 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fees kill profit with 30%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Manual reconciliation wastes time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Lack of customer data and loyalty 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Delivery fault hurt restaurant income and public image</a:t>
            </a:r>
            <a:endParaRPr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63" name="Google Shape;263;p38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8300" y="1171275"/>
            <a:ext cx="5215600" cy="3432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9"/>
          <p:cNvSpPr txBox="1"/>
          <p:nvPr>
            <p:ph type="ctrTitle"/>
          </p:nvPr>
        </p:nvSpPr>
        <p:spPr>
          <a:xfrm>
            <a:off x="357775" y="0"/>
            <a:ext cx="7811700" cy="124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Implementation Plan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39"/>
          <p:cNvSpPr txBox="1"/>
          <p:nvPr/>
        </p:nvSpPr>
        <p:spPr>
          <a:xfrm>
            <a:off x="225750" y="1193475"/>
            <a:ext cx="3805800" cy="3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Short-Term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Optimize menu profitability on delivery platforms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Reduce reconciliation time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Explore new partnerships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Negotiate better commission rates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Long-Term</a:t>
            </a:r>
            <a:endParaRPr b="1" sz="18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Diversify delivery platforms</a:t>
            </a:r>
            <a:endParaRPr sz="17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" sz="17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Build direct channels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270" name="Google Shape;270;p39" title="mjtxt-market-share-of-leading-online-meal-delivery-companies-in-the-united-states-as-of-january-20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400" y="1193480"/>
            <a:ext cx="4584726" cy="3349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40"/>
          <p:cNvSpPr txBox="1"/>
          <p:nvPr>
            <p:ph idx="1" type="subTitle"/>
          </p:nvPr>
        </p:nvSpPr>
        <p:spPr>
          <a:xfrm>
            <a:off x="720000" y="1212525"/>
            <a:ext cx="7708800" cy="268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Rebalance Shifting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Cross-Train Employees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Shift Hours to Peak Times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Optimizing delivery profit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Streamline operations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Expand delivery options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800">
                <a:solidFill>
                  <a:schemeClr val="dk1"/>
                </a:solidFill>
                <a:latin typeface="Bakbak One"/>
                <a:ea typeface="Bakbak One"/>
                <a:cs typeface="Bakbak One"/>
                <a:sym typeface="Bakbak One"/>
              </a:rPr>
              <a:t>Thank You</a:t>
            </a:r>
            <a:endParaRPr b="1" sz="5800">
              <a:solidFill>
                <a:schemeClr val="dk1"/>
              </a:solidFill>
              <a:latin typeface="Bakbak One"/>
              <a:ea typeface="Bakbak One"/>
              <a:cs typeface="Bakbak One"/>
              <a:sym typeface="Bakbak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&amp;B (Food &amp; Beverage) Business Plan by Slidesgo">
  <a:themeElements>
    <a:clrScheme name="Simple Light">
      <a:dk1>
        <a:srgbClr val="FFFFFF"/>
      </a:dk1>
      <a:lt1>
        <a:srgbClr val="322825"/>
      </a:lt1>
      <a:dk2>
        <a:srgbClr val="D3BE4F"/>
      </a:dk2>
      <a:lt2>
        <a:srgbClr val="E4613E"/>
      </a:lt2>
      <a:accent1>
        <a:srgbClr val="EDB572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